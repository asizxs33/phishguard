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Жыл бойынша кибершабуылдар өсімі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Кибершабуылдар саны (миллион)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3.5</c:v>
                </c:pt>
                <c:pt idx="1">
                  <c:v>4.8</c:v>
                </c:pt>
                <c:pt idx="2">
                  <c:v>6.2</c:v>
                </c:pt>
                <c:pt idx="3">
                  <c:v>7.9</c:v>
                </c:pt>
                <c:pt idx="4">
                  <c:v>10.3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AI кибербюджет өсімі ($ млрд)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кибербюджет ($ млрд)</c:v>
                </c:pt>
              </c:strCache>
            </c:strRef>
          </c:tx>
          <c:spPr>
            <a:solidFill>
              <a:srgbClr val="0E7490"/>
            </a:solidFill>
            <a:ln w="38100" cap="flat">
              <a:solidFill>
                <a:srgbClr val="0E74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7490"/>
              </a:solidFill>
              <a:ln w="9525" cap="flat">
                <a:solidFill>
                  <a:srgbClr val="0E74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2025*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8.8</c:v>
                </c:pt>
                <c:pt idx="1">
                  <c:v>11.5</c:v>
                </c:pt>
                <c:pt idx="2">
                  <c:v>15.4</c:v>
                </c:pt>
                <c:pt idx="3">
                  <c:v>20.1</c:v>
                </c:pt>
                <c:pt idx="4">
                  <c:v>26.8</c:v>
                </c:pt>
                <c:pt idx="5">
                  <c:v>35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57200"/>
            <a:ext cx="2926080" cy="2926080"/>
          </a:xfrm>
          <a:prstGeom prst="ellipse">
            <a:avLst/>
          </a:prstGeom>
          <a:solidFill>
            <a:srgbClr val="0E7490">
              <a:alpha val="20000"/>
            </a:srgbClr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914400"/>
            <a:ext cx="2011680" cy="2011680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1463040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1188720"/>
            <a:ext cx="365760" cy="411480"/>
          </a:xfrm>
          <a:prstGeom prst="ellipse">
            <a:avLst/>
          </a:prstGeom>
          <a:solidFill>
            <a:srgbClr val="000000">
              <a:alpha val="0"/>
            </a:srgbClr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КИБЕРҚАУІПСІЗДІК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Цифрлық кеңістіктегі қауіпсіздік: теория, тәжірибе және болашақ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5029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0632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Академиялық жыл: 2024–2025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4472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Орындаған: Студент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83133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Мамандық: Ақпараттық қауіпсіздік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Қазақстан Республикасы  •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КІРІСПЕ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9377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Бүгінгі таңда интернет пен цифрлық технологиялар адамдардың күнделікті өміріне терең еніп кетті. Бизнес, мемлекеттік басқару, денсаулық сақтау, білім беру — барлық салада ақпараттық жүйелер қолданылады.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Алайда цифрландыру киберқауіптердің де өсуіне әкелді. 2023 жылы әлем бойынша кибершабуылдардан болған жалпы шығын 8 триллион АҚШ долларынан асты (Cybersecurity Ventures).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Осы тақырыптың өзектілігі: ұйымдар мен жеке тұлғалар өздерінің деректерін, активтерін және беделін қорғау үшін киберқауіпсіздіктің негіздерін білуі керек.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94960" y="822960"/>
            <a:ext cx="3474720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0" y="8412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$8T+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394960" y="1417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Жыл сайынғы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кибершығын (2023)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2148840"/>
            <a:ext cx="3474720" cy="1143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216712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2 200+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94960" y="2743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Тәулік бойы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кибершабуыл саны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4960" y="3474720"/>
            <a:ext cx="3474720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349300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95%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394960" y="4069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Деректер бұзуы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адам қателігінен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Киберқауіпсіздік | 2025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ЖОСПАР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2004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822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Киберқауіпсіздік: анықтама және негізгі ұғымдар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32004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087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Киберқауіптердің түрлері мен жіктелуі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32004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1945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194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Кибершабуылдардың механизмдері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32004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8803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880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Жеке тұлғаларға арналған қауіптер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566160"/>
            <a:ext cx="32004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5661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566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Ұйымдарға арналған қауіптер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4251960"/>
            <a:ext cx="32004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2519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4251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Мемлекеттік деңгейдегі кибершабуылдар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822960"/>
            <a:ext cx="32004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8229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57800" y="822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Қорғаныс тетіктері мен технологиялары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1508760"/>
            <a:ext cx="32004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5087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5780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Қазақстандағы киберқауіпсіздік жағдайы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2194560"/>
            <a:ext cx="32004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1945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5780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Халықаралық стандарттар мен заңнама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46320" y="2880360"/>
            <a:ext cx="32004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8803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5780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Болашақ: AI және киберқауіпсіздік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46320" y="3566160"/>
            <a:ext cx="32004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5661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11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57800" y="3566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Қорытынды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46320" y="4251960"/>
            <a:ext cx="32004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42519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257800" y="4251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Пайдаланылған әдебиеттер тізімі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Киберқауіпсіздік | 2025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АНЫҚТАМА ЖӘНЕ НЕГІЗГІ ҰҒЫМДАР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95528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Киберқауіпсіздік (Cybersecurity) — бұл компьютерлік жүйелерді, желілерді, бағдарламаларды және деректерді рұқсатсыз кіруден, зақымданудан немесе шабуылдан қорғауға бағытталған технологиялар, процестер және тәжірибелердің жиынтығы.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828800"/>
            <a:ext cx="64008" cy="12801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20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</a:rPr>
              <a:t>Конфиденциалдылық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26771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Ақпаратқа тек рұқсаты бар адамдар ғана қол жеткізе алады. Мысал: банктік деректерді шифрлау.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82880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828800"/>
            <a:ext cx="64008" cy="1280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920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Тұтастық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26771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Деректер рұқсатсыз өзгертілмейді. Мысал: цифрлық қол қою арқылы файлдардың түпнұсқалығын тексеру.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24612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246120"/>
            <a:ext cx="64008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337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Қолжетімділік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" y="368503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Жүйелер мен деректер уақтылы және үзіліссіз жұмыс істейді. Мысал: DDoS-тан қорғаныс.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324612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3246120"/>
            <a:ext cx="64008" cy="1280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337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CIA Үштігі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368503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Confidentiality + Integrity + Availability — киберқауіпсіздіктің негізгі үш принципі.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Киберқауіпсіздік | 2025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КИБЕРҚАУІПТЕРДІҢ ТҮРЛЕРІ МЕН ЖІКТЕЛУІ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3931920"/>
        </p:xfrm>
        <a:graphic>
          <a:graphicData uri="http://schemas.openxmlformats.org/drawingml/2006/table">
            <a:tbl>
              <a:tblPr/>
              <a:tblGrid>
                <a:gridCol w="2560320"/>
                <a:gridCol w="3474720"/>
                <a:gridCol w="2560320"/>
              </a:tblGrid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Қауіп түрі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Сипаттамасы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Мысал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Зиянкес бағдарлама (Malware)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Жүйені бүлдіруге арналған бағдарлама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WannaCry вирусы (2017)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Фишинг (Phishing)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Жалған сілтеме арқылы деректерді ұрлау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Банк атынан жалған email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DDoS шабуылы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Серверді сұраулармен шамадан тыс жүктеу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Sony PlayStation Network (2014)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Ransomware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Деректерді шифрлап, ақша талап ету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Colonial Pipeline (2021)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SQL инъекция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Дерекқорға зиянды код енгізу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Yahoo деректер бұзылуы (2016)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Социалдық инженерия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Адамды алдап, ақпарат алу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Twitter CEO аккаунты бұзылуы (2020)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Киберқауіпсіздік | 2025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КИБЕРШАБУЫЛДАРДЫҢ МЕХАНИЗМДЕРІ (CYBER KILL CHAIN)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09728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Барлау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1051560"/>
            <a:ext cx="137160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777240"/>
            <a:ext cx="1097280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777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08760" y="1234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Қаруландыру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1051560"/>
            <a:ext cx="137160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777240"/>
            <a:ext cx="109728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777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43200" y="1234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Жеткізу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0" y="1051560"/>
            <a:ext cx="137160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77640" y="777240"/>
            <a:ext cx="1097280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777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77640" y="1234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Пайдалану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0" y="1051560"/>
            <a:ext cx="137160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2080" y="777240"/>
            <a:ext cx="109728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777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212080" y="1234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Орнату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1051560"/>
            <a:ext cx="137160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777240"/>
            <a:ext cx="1097280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777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46520" y="1234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Басқару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543800" y="1051560"/>
            <a:ext cx="137160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0" y="777240"/>
            <a:ext cx="1097280" cy="9144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0" y="777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680960" y="1234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Мақсат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1874520"/>
            <a:ext cx="10972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1874520"/>
            <a:ext cx="109728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1965960"/>
            <a:ext cx="1005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Нысан туралы ақпарат жинау. OSINT, LinkedIn, DNS lookup.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508760" y="1874520"/>
            <a:ext cx="10972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08760" y="1874520"/>
            <a:ext cx="109728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54480" y="1965960"/>
            <a:ext cx="1005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Зиянкес бағдарлама жасау немесе бейімдеу.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0" y="1874520"/>
            <a:ext cx="10972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0" y="1874520"/>
            <a:ext cx="10972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88920" y="1965960"/>
            <a:ext cx="1005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Email тіркемесі, фишинг сілтемесі немесе USB арқылы.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977640" y="1874520"/>
            <a:ext cx="10972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977640" y="1874520"/>
            <a:ext cx="109728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23360" y="1965960"/>
            <a:ext cx="1005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Осалдықты іске қосу, қорғаныс айналып өту.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212080" y="1874520"/>
            <a:ext cx="10972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212080" y="1874520"/>
            <a:ext cx="109728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7800" y="1965960"/>
            <a:ext cx="1005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Backdoor, трояндық бағдарлама орнату.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46520" y="1874520"/>
            <a:ext cx="10972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46520" y="1874520"/>
            <a:ext cx="109728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0" y="1965960"/>
            <a:ext cx="1005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C2 сервер арқылы жүйені қашықтан басқару.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680960" y="1874520"/>
            <a:ext cx="10972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1874520"/>
            <a:ext cx="1097280" cy="5486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26680" y="1965960"/>
            <a:ext cx="1005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Деректерді ұрлау, бұзу немесе шифрлау.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Киберқауіпсіздік | 2025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ЖЕКЕ ТҰЛҒАЛАРҒА АРНАЛҒАН ҚАУІПТЕР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868680"/>
            <a:ext cx="5266944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Фишинг шабуылдары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58784" y="8686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36%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645920"/>
            <a:ext cx="4096512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45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Зиянкес бағдарламалар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88352" y="16459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28%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2423160"/>
            <a:ext cx="263347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4231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Жеке деректер ұрлануы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25312" y="24231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18%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0" y="3200400"/>
            <a:ext cx="1463040" cy="5029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2004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Романтикалық алаяқтық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32004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0" y="3977640"/>
            <a:ext cx="1170432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977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Басқалары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62272" y="39776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777240"/>
            <a:ext cx="2468880" cy="3840480"/>
          </a:xfrm>
          <a:prstGeom prst="rect">
            <a:avLst/>
          </a:prstGeom>
          <a:solidFill>
            <a:srgbClr val="0E7490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822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🛡️ Өзіңді қорға!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13258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✔ Күшті пароль қолдан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17647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✔ 2FA қосу міндетті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22037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✔ VPN пайдалан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26426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✔ Антивирус жаңарт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30815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✔ Күмәнді сілтемені баспа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35204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✔ Жалпы Wi-Fi пайдаланба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39593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✔ Резервтік көшірме жаса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Киберқауіпсіздік | 2025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ҰЙЫМДАРҒА АРНАЛҒАН ҚАУІПТЕР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0" y="8046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Танымал кибершабуыл жағдайлары: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0" y="1234440"/>
            <a:ext cx="3383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0" y="1234440"/>
            <a:ext cx="64008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23560" y="1252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Equifax (2017)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23560" y="15727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Шығын: $700 млн | 147 млн адамның деректері ашылды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0" y="2240280"/>
            <a:ext cx="3383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0" y="2240280"/>
            <a:ext cx="64008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23560" y="22585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Marriott (2018)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623560" y="25786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Шығын: $124 млн | 500 млн қонақтың жеке деректері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0" y="3246120"/>
            <a:ext cx="3383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0" y="3246120"/>
            <a:ext cx="64008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23560" y="3264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Colonial Pipeline (2021)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623560" y="35844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Шығын: $4.4 млн | АҚШ-та жанармай жеткізілімі тоқтады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74320" y="4114800"/>
            <a:ext cx="8595360" cy="5943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1330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IBM зерттеуі бойынша, 2023 жылы бір деректер бұзылуының орташа құны $4.45 миллион долларды құрады — тарихтағы ең жоғары деңгей.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Киберқауіпсіздік | 2025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МЕМЛЕКЕТТІК ДЕҢГЕЙДЕГІ КИБЕРШАБУЫЛДАР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640080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2007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DDoS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87552" y="7772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Эстония: Ресей хакерлері мемлекеттік сайттарды бөгеді. НАТО-ны іске қосты.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160520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777240"/>
            <a:ext cx="640080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9144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2010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371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Stuxnet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22392" y="7772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Иран: АҚШ/Израиль ядролық центрифугаларды бүлдіретін вирус жасады.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103120"/>
            <a:ext cx="4160520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103120"/>
            <a:ext cx="640080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240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2016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" y="2697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Сайлауға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87552" y="21031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АҚШ: Ресейлік хакерлер демократтардың email-дерін бұзды.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103120"/>
            <a:ext cx="4160520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2103120"/>
            <a:ext cx="640080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240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2017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2697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NotPetya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22392" y="21031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Украина: $10 млрд шығын. Maersk, Merck, FedEx зардап шекті.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429000"/>
            <a:ext cx="4160520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429000"/>
            <a:ext cx="640080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566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2020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023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SolarWinds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87552" y="34290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АҚШ: 18 000+ ұйым бұзылды, оның ішінде АҚШ үкіметі.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429000"/>
            <a:ext cx="4160520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3429000"/>
            <a:ext cx="640080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566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2022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709160" y="4023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Гибридтік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22392" y="34290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Украина: Ресейдің физикалық шабуылдармен бірге кибер шабуылдары.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Киберқауіпсіздік | 2025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ҚОРҒАНЫС ТЕТІКТЕРІ МЕН ТЕХНОЛОГИЯЛАРЫ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594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🔥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" y="777240"/>
            <a:ext cx="36576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503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Firewall (Брандмауэр)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216152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Желіге кіретін және шығатын трафикті бақылайды. Мысал: pfSense, Cisco ASA. Рұқсатсыз байланыстарды блоктайды.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777240"/>
            <a:ext cx="594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303520" y="777240"/>
            <a:ext cx="36576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8503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Антивирус / EDR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216152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Зиянкес бағдарламаларды анықтайды және жояды. Заманауи EDR (Endpoint Detection &amp; Response) AI-ды пайдаланады.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130552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30552"/>
            <a:ext cx="594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68680" y="2130552"/>
            <a:ext cx="36576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20370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Шифрлау (Encryption)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569464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AES-256, RSA алгоритмдері. HTTPS, TLS протоколдары. Деректерді тек кілт бар адам оқи алады.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130552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130552"/>
            <a:ext cx="594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👁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303520" y="2130552"/>
            <a:ext cx="36576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220370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IDS/IPS жүйелер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2569464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Intrusion Detection/Prevention Systems. Желіде күдікті әрекеттерді анықтап, автоматты блоктайды.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483864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483864"/>
            <a:ext cx="594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🚫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868680" y="3483864"/>
            <a:ext cx="36576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355701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Zero Trust Architecture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3922776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"Ешкімді сенбе" принципі. Тіпті ішкі қолданушылар да тексерілуі керек. Google BeyondCorp мысалы.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483864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3483864"/>
            <a:ext cx="594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5303520" y="3483864"/>
            <a:ext cx="36576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0" y="355701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SOC (Қауіпсіздік орталығы)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3922776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Security Operations Center — 24/7 режимде желіні бақылайтын мамандар командасы мен технологиялар.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Киберқауіпсіздік | 2025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ПАРОЛЬДЕР ЖӘНЕ АУТЕНТИФИКАЦИЯ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2286000"/>
        </p:xfrm>
        <a:graphic>
          <a:graphicData uri="http://schemas.openxmlformats.org/drawingml/2006/table">
            <a:tbl>
              <a:tblPr/>
              <a:tblGrid>
                <a:gridCol w="3200400"/>
                <a:gridCol w="1645920"/>
                <a:gridCol w="192024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Пароль мысалы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Ұзындығы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Бұзу уақыты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Қауіпсіздік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123456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6 таңба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Бірден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C0000"/>
                          </a:solidFill>
                        </a:rPr>
                        <a:t>❌ Өте нашар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Qwerty2024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10 таңба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 сағат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5100"/>
                          </a:solidFill>
                        </a:rPr>
                        <a:t>⚠️ Нашар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MyD0g!sC@t#2024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15 таңба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34 000 жыл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</a:rPr>
                        <a:t>✅ Жақсы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Tr0ub4dor&amp;3!xK#pQ@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18 таңба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Триллион жыл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47A1"/>
                          </a:solidFill>
                        </a:rPr>
                        <a:t>🔒 Өте жақсы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200400"/>
            <a:ext cx="4114800" cy="1554480"/>
          </a:xfrm>
          <a:prstGeom prst="rect">
            <a:avLst/>
          </a:prstGeom>
          <a:solidFill>
            <a:srgbClr val="1A3A5C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3246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Екі факторлы аутентификация (2FA)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37033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Білу (пароль) + 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Ие болу (телефон/токен)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Мысал: Google Authenticator, SMS коды, физикалық кілт (YubiKey). 2FA қосу аккаунтты бұзу қаупін 99.9%-ға азайтады (Microsoft).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3200400"/>
            <a:ext cx="4206240" cy="1554480"/>
          </a:xfrm>
          <a:prstGeom prst="rect">
            <a:avLst/>
          </a:prstGeom>
          <a:solidFill>
            <a:srgbClr val="1A3A5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3246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Парольдер менеджері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54880" y="37033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Танымал шешімдер: LastPass, Bitwarden, 1Password, KeePass.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Жасушаны немесе блокнотты пайдалану — ең жаман практика. Менеджер барлық парольдерді бір мастер-парольмен қорғайды.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Киберқауіпсіздік | 2025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ҚАЗАҚСТАНДАҒЫ КИБЕРҚАУІПСІЗДІК ЖАҒДАЙЫ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914400" cy="8686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2021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8229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«Киберқауіпсіздік туралы» Заң қабылданды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822960"/>
            <a:ext cx="914400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82296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KZ-CERT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8229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Ұлттық кибершабуылдарға ден қою орталығы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82880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828800"/>
            <a:ext cx="914400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82880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Top 40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18288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Дүниежүзілік GCI индексі бойынша орын (2023)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182880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1828800"/>
            <a:ext cx="914400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82880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30%+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15000" y="18288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ҚР банктерге шабуыл өсімі (2022-2023)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8595360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44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МЕМЛЕКЕТТІК БАСТАМАЛАР МЕН ЗАҢНАМА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3383280"/>
            <a:ext cx="256032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83280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«Цифрлық Қазақстан» мемлекеттік бағдарламасы — 2018 жылдан бастап инфрақұрылымды қорғауға арналған бюджет бөлінді.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730752"/>
            <a:ext cx="256032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30752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37307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ҚР «Ақпараттандыру туралы» Заңы — мемлекеттік ақпараттық жүйелерге қойылатын талаптарды белгілейді.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078224"/>
            <a:ext cx="256032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078224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" y="40782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KZ-CERT орталығы — мемлекеттік органдар мен стратегиялық ұйымдарға инциденттерге жедел ден қою қызметін ұсынады.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425696"/>
            <a:ext cx="256032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425696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" y="44256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«Қазақстан-2025» стратегиясы — ЖШС, ИТ саласын дамыту, цифрлық экономиканы қорғауды мақсат етеді.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Киберқауіпсіздік | 2025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ХАЛЫҚАРАЛЫҚ СТАНДАРТТАР МЕН ЗАҢНАМА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1188720"/>
          </a:xfrm>
          <a:prstGeom prst="rect">
            <a:avLst/>
          </a:prstGeom>
          <a:solidFill>
            <a:srgbClr val="1A3A5C"/>
          </a:solidFill>
          <a:ln w="254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5039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</a:rPr>
              <a:t>ISO/IEC 27001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25272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Ақпараттық қауіпсіздікті басқару жүйесінің халықаралық стандарты. Ұйымдарды сертификаттайды.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777240"/>
            <a:ext cx="4160520" cy="1188720"/>
          </a:xfrm>
          <a:prstGeom prst="rect">
            <a:avLst/>
          </a:prstGeom>
          <a:solidFill>
            <a:srgbClr val="1A3A5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85039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NIST CSF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25272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Cybersecurity Framework — АҚШ-тың киберқауіпсіздік негіздері. Identify, Protect, Detect, Respond, Recover.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4160520" cy="1188720"/>
          </a:xfrm>
          <a:prstGeom prst="rect">
            <a:avLst/>
          </a:prstGeom>
          <a:solidFill>
            <a:srgbClr val="1A3A5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7627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GDPR (ЕО)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257860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General Data Protection Regulation — жеке деректерді қорғаудың еуропалық регламенті. Айыппұл 4% айналым.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2103120"/>
            <a:ext cx="4160520" cy="1188720"/>
          </a:xfrm>
          <a:prstGeom prst="rect">
            <a:avLst/>
          </a:prstGeom>
          <a:solidFill>
            <a:srgbClr val="1A3A5C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17627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44AD"/>
                </a:solidFill>
              </a:rPr>
              <a:t>PCI DSS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57860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Банк карталарымен жұмыс істейтін ұйымдарға арналған деректер қауіпсіздігінің стандарты.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4160520" cy="1188720"/>
          </a:xfrm>
          <a:prstGeom prst="rect">
            <a:avLst/>
          </a:prstGeom>
          <a:solidFill>
            <a:srgbClr val="1A3A5C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0215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COBIT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390448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IT басқару және аудит үшін қолданылатын негіз. Тәуекелдерді бағалау мен бақылауға бағытталған.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429000"/>
            <a:ext cx="4160520" cy="1188720"/>
          </a:xfrm>
          <a:prstGeom prst="rect">
            <a:avLst/>
          </a:prstGeom>
          <a:solidFill>
            <a:srgbClr val="1A3A5C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50215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</a:rPr>
              <a:t>MITRE ATT&amp;CK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390448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Реал-тайм шабуыл техникалары мен тактикаларының ашық базасы. Қауіпсіздікті бағалауға қолданылады.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Киберқауіпсіздік | 2025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БОЛАШАҚ: ЖАСАНДЫ ИНТЕЛЛЕКТ ЖӘНЕ КИБЕРҚАУІПСІЗДІК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45720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029200" y="777240"/>
            <a:ext cx="38404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120640" y="822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✅ AI ҚОРҒАНЫС ҮШІН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120640" y="12070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Нақты уақытта аномалияларды анықтау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20640" y="14356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Автоматты инциденттерге ден қою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120640" y="16642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Фишинг email-дерін 99%+ дәлдікпен тану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120640" y="18928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Нуль-күн осалдықтарды алдын ала болжау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0" y="2286000"/>
            <a:ext cx="384048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0" y="2331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⚠️ AI ҚАУІП РЕТІНДЕ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120640" y="27157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Deepfake арқылы жалған видео/дыбыс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120640" y="29626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AI жасаған фишинг хаттары (жетілдірілген)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120640" y="32095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Авто-хакинг: осалдықтарды іздеу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120640" y="34564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Биометрикалық жүйелерді алдау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4320" y="3822192"/>
            <a:ext cx="8595360" cy="8229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Quantum Computing қаупі: кванттық компьютерлер болашақта RSA-2048 шифрлауын минуттарда бұза алуы мүмкін. NIST 2024 жылы пост-кванттық шифрлау стандарттарын бекітті.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Киберқауіпсіздік | 2025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КИБЕРҚАУІПСІЗДІК МАМАНДЫҚТАРЫ ЖӘНЕ МАНСАП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600200" cy="3474720"/>
          </a:xfrm>
          <a:prstGeom prst="rect">
            <a:avLst/>
          </a:prstGeom>
          <a:solidFill>
            <a:srgbClr val="1A3A5C"/>
          </a:solidFill>
          <a:ln w="25400">
            <a:solidFill>
              <a:srgbClr val="0E74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1600200" cy="4114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Ақпараттық қауіп-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сіздік аналитигі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Жалақы: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5087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$95K–$130K/жыл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9385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Сертификат: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1945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CompTIA Security+, CEH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0" y="777240"/>
            <a:ext cx="1600200" cy="3474720"/>
          </a:xfrm>
          <a:prstGeom prst="rect">
            <a:avLst/>
          </a:prstGeom>
          <a:solidFill>
            <a:srgbClr val="1A3A5C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777240"/>
            <a:ext cx="1600200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7772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Пентестер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(Ethical Hacker)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1261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Жалақы: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15087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$110K–$160K/жыл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19385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Сертификат: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11680" y="21945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CEH, OSCP, GPEN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0" y="777240"/>
            <a:ext cx="1600200" cy="3474720"/>
          </a:xfrm>
          <a:prstGeom prst="rect">
            <a:avLst/>
          </a:prstGeom>
          <a:solidFill>
            <a:srgbClr val="1A3A5C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777240"/>
            <a:ext cx="160020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7772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SOC Аналитик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49040" y="1261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Жалақы: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49040" y="15087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$70K–$110K/жыл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49040" y="19385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Сертификат: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49040" y="21945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CySA+, SSCP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0" y="777240"/>
            <a:ext cx="1600200" cy="3474720"/>
          </a:xfrm>
          <a:prstGeom prst="rect">
            <a:avLst/>
          </a:prstGeom>
          <a:solidFill>
            <a:srgbClr val="1A3A5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0" y="777240"/>
            <a:ext cx="160020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7772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CISO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(Бас ақп. қауіп-ті офицер)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0" y="1261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Жалақы: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0" y="15087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$200K–$400K/жыл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0" y="19385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Сертификат: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0" y="21945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CISSP, CISM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23760" y="777240"/>
            <a:ext cx="1600200" cy="3474720"/>
          </a:xfrm>
          <a:prstGeom prst="rect">
            <a:avLst/>
          </a:prstGeom>
          <a:solidFill>
            <a:srgbClr val="1A3A5C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23760" y="777240"/>
            <a:ext cx="1600200" cy="4114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0" y="7772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Киберсот-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техникалық сарапшы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23760" y="1261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Жалақы: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23760" y="15087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$80K–$120K/жыл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23760" y="19385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Сертификат: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223760" y="21945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GCFE, EnCE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407408"/>
            <a:ext cx="859536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4165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ISC2 зерттеуі (2023): Әлемде 3.4 миллион киберқауіпсіздік маманы жетіспейді. Бұл мамандық болашақ үшін ең перспективалы саладың бірі.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Киберқауіпсіздік | 2025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ҚОРЫТЫНДЫ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54864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777240"/>
            <a:ext cx="795528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Киберқауіпсіздік — бұл бір рет орнатылатын бағдарлама емес, үздіксіз жетілдірілетін процесс.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54864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002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1600200"/>
            <a:ext cx="795528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600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Адам факторы — кибершабуылдардың 95%-дан астамы адам қателігін пайдаланады. Білім беру мен хабардарлық маңызды.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423160"/>
            <a:ext cx="54864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4231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2423160"/>
            <a:ext cx="795528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2423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Технологиялар: Firewall, шифрлау, 2FA, EDR — негізгі қорғаныс қабаттары. Олардың барлығын бірге қолдану керек.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246120"/>
            <a:ext cx="548640" cy="6400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2461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400" y="3246120"/>
            <a:ext cx="795528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Заңнама: ҚР киберзаңнама дамуда. ISO 27001, NIST, GDPR стандарттары халықаралық сенімділікті арттырады.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4069080"/>
            <a:ext cx="548640" cy="6400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0690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14400" y="4069080"/>
            <a:ext cx="795528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069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Болашақ: AI екі жаққа да қызмет етеді. Маман ретінде трендтерді бақылап, білімін үнемі жаңартып отыру қажет.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4937760"/>
            <a:ext cx="8595360" cy="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Киберқауіпсіздік | 2025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ПАЙДАЛАНЫЛҒАН ӘДЕБИЕТТЕР ТІЗІМІ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347472" cy="31089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7498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Anderson, R. (2020). Security Engineering: A Guide to Building Dependable Distributed Systems. 3rd ed. Wiley.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129284"/>
            <a:ext cx="347472" cy="31089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2928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1292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Stallings, W. &amp; Brown, L. (2018). Computer Security: Principles and Practice. 4th ed. Pearson.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508760"/>
            <a:ext cx="347472" cy="31089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0876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15087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NIST (2018). Framework for Improving Critical Infrastructure Cybersecurity. National Institute of Standards and Technology.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1888236"/>
            <a:ext cx="347472" cy="31089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88823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188823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ISO/IEC 27001:2022. Information Security, Cybersecurity and Privacy Protection. International Organization for Standardization.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267712"/>
            <a:ext cx="347472" cy="31089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26771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226771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IBM Security. (2023). Cost of a Data Breach Report 2023. IBM Corporation. https://ibm.com/security/data-breach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647188"/>
            <a:ext cx="347472" cy="31089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64718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26471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Cybersecurity Ventures. (2023). Cybercrime Report 2023. Annual Global Report on Cybercrime.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026664"/>
            <a:ext cx="347472" cy="31089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02666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302666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KZ-CERT. (2023). Қазақстан Республикасының ақпараттық қауіпсіздік жай-күйі туралы жылдық есеп. kz-cert.kz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406140"/>
            <a:ext cx="347472" cy="31089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40614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" y="34061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Қазақстан Республикасы. (2021). «Қазақстан Республикасының кибер кеңістігін қорғау туралы» Заң, 12 шілде 2021 ж.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785616"/>
            <a:ext cx="347472" cy="31089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78561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" y="378561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MITRE Corporation. (2024). MITRE ATT&amp;CK Framework v14. https://attack.mitre.org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" y="4165092"/>
            <a:ext cx="347472" cy="31089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16509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" y="416509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ISC2. (2023). Cybersecurity Workforce Study 2023. International Information System Security Certification Consortium.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4544568"/>
            <a:ext cx="347472" cy="31089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54456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" y="45445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Kaspersky Lab. (2023). Global IT Security Risks Survey. Kaspersky Security Bulletin 2023.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Киберқауіпсіздік |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Киберқауіпсіздік</dc:title>
  <dc:subject>PptxGenJS Presentation</dc:subject>
  <dc:creator>PptxGenJS</dc:creator>
  <cp:lastModifiedBy>PptxGenJS</cp:lastModifiedBy>
  <cp:revision>1</cp:revision>
  <dcterms:created xsi:type="dcterms:W3CDTF">2026-02-25T09:00:28Z</dcterms:created>
  <dcterms:modified xsi:type="dcterms:W3CDTF">2026-02-25T09:00:28Z</dcterms:modified>
</cp:coreProperties>
</file>